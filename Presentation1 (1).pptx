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3" r:id="rId3"/>
    <p:sldId id="272" r:id="rId4"/>
    <p:sldId id="274" r:id="rId5"/>
    <p:sldId id="279" r:id="rId6"/>
    <p:sldId id="278" r:id="rId7"/>
    <p:sldId id="277" r:id="rId8"/>
    <p:sldId id="276" r:id="rId9"/>
    <p:sldId id="275" r:id="rId10"/>
    <p:sldId id="280" r:id="rId11"/>
    <p:sldId id="281" r:id="rId12"/>
    <p:sldId id="282" r:id="rId13"/>
    <p:sldId id="283" r:id="rId14"/>
    <p:sldId id="284" r:id="rId15"/>
    <p:sldId id="285" r:id="rId16"/>
    <p:sldId id="286" r:id="rId17"/>
    <p:sldId id="287" r:id="rId18"/>
    <p:sldId id="288" r:id="rId19"/>
    <p:sldId id="289" r:id="rId20"/>
  </p:sldIdLst>
  <p:sldSz cx="6858000" cy="9906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980" y="792"/>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3077282"/>
            <a:ext cx="5829300" cy="2123369"/>
          </a:xfrm>
        </p:spPr>
        <p:txBody>
          <a:bodyPr/>
          <a:lstStyle/>
          <a:p>
            <a:r>
              <a:rPr lang="en-US" smtClean="0"/>
              <a:t>Click to edit Master title style</a:t>
            </a:r>
            <a:endParaRPr lang="en-US"/>
          </a:p>
        </p:txBody>
      </p:sp>
      <p:sp>
        <p:nvSpPr>
          <p:cNvPr id="3" name="Subtitle 2"/>
          <p:cNvSpPr>
            <a:spLocks noGrp="1"/>
          </p:cNvSpPr>
          <p:nvPr>
            <p:ph type="subTitle" idx="1"/>
          </p:nvPr>
        </p:nvSpPr>
        <p:spPr>
          <a:xfrm>
            <a:off x="1028700" y="5613400"/>
            <a:ext cx="4800600" cy="253153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F1CBDAD-66AD-4BAE-B4CF-714C49693D3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2448249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1CBDAD-66AD-4BAE-B4CF-714C49693D3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3446121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6365523"/>
            <a:ext cx="5829300" cy="1967442"/>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541735" y="4198586"/>
            <a:ext cx="5829300" cy="21669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F1CBDAD-66AD-4BAE-B4CF-714C49693D3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114264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57175" y="3338690"/>
            <a:ext cx="2257425" cy="94428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628900" y="3338690"/>
            <a:ext cx="2257425" cy="94428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F1CBDAD-66AD-4BAE-B4CF-714C49693D3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398293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342900" y="2217385"/>
            <a:ext cx="303014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42900" y="3141486"/>
            <a:ext cx="303014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3483769" y="2217385"/>
            <a:ext cx="303133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483769" y="3141486"/>
            <a:ext cx="303133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1CBDAD-66AD-4BAE-B4CF-714C49693D3F}"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2133790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F1CBDAD-66AD-4BAE-B4CF-714C49693D3F}"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23736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1CBDAD-66AD-4BAE-B4CF-714C49693D3F}"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1385662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4405"/>
            <a:ext cx="2256235" cy="167851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2681287" y="394406"/>
            <a:ext cx="3833813" cy="845449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42900" y="2072923"/>
            <a:ext cx="2256235" cy="67759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1CBDAD-66AD-4BAE-B4CF-714C49693D3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7404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934200"/>
            <a:ext cx="4114800" cy="818622"/>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344216" y="885119"/>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752822"/>
            <a:ext cx="4114800" cy="11625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1CBDAD-66AD-4BAE-B4CF-714C49693D3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520790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1CBDAD-66AD-4BAE-B4CF-714C49693D3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2102867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573264"/>
            <a:ext cx="1157288" cy="1220822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57175" y="573264"/>
            <a:ext cx="3357563" cy="1220822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1CBDAD-66AD-4BAE-B4CF-714C49693D3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40333C-72DE-4430-AD46-73728110A4D5}" type="slidenum">
              <a:rPr lang="en-US" smtClean="0"/>
              <a:t>‹#›</a:t>
            </a:fld>
            <a:endParaRPr lang="en-US"/>
          </a:p>
        </p:txBody>
      </p:sp>
    </p:spTree>
    <p:extLst>
      <p:ext uri="{BB962C8B-B14F-4D97-AF65-F5344CB8AC3E}">
        <p14:creationId xmlns:p14="http://schemas.microsoft.com/office/powerpoint/2010/main" val="238540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342900" y="2311401"/>
            <a:ext cx="6172200" cy="653750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342900" y="9181395"/>
            <a:ext cx="1600200" cy="527403"/>
          </a:xfrm>
          <a:prstGeom prst="rect">
            <a:avLst/>
          </a:prstGeom>
        </p:spPr>
        <p:txBody>
          <a:bodyPr vert="horz" lIns="91440" tIns="45720" rIns="91440" bIns="45720" rtlCol="0" anchor="ctr"/>
          <a:lstStyle>
            <a:lvl1pPr algn="l">
              <a:defRPr sz="1200">
                <a:solidFill>
                  <a:schemeClr val="tx1">
                    <a:tint val="75000"/>
                  </a:schemeClr>
                </a:solidFill>
              </a:defRPr>
            </a:lvl1pPr>
          </a:lstStyle>
          <a:p>
            <a:fld id="{3F1CBDAD-66AD-4BAE-B4CF-714C49693D3F}" type="datetimeFigureOut">
              <a:rPr lang="en-US" smtClean="0"/>
              <a:t>1/11/2025</a:t>
            </a:fld>
            <a:endParaRPr lang="en-US"/>
          </a:p>
        </p:txBody>
      </p:sp>
      <p:sp>
        <p:nvSpPr>
          <p:cNvPr id="5" name="Footer Placeholder 4"/>
          <p:cNvSpPr>
            <a:spLocks noGrp="1"/>
          </p:cNvSpPr>
          <p:nvPr>
            <p:ph type="ftr" sz="quarter" idx="3"/>
          </p:nvPr>
        </p:nvSpPr>
        <p:spPr>
          <a:xfrm>
            <a:off x="2343150" y="9181395"/>
            <a:ext cx="2171700" cy="52740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9181395"/>
            <a:ext cx="1600200" cy="527403"/>
          </a:xfrm>
          <a:prstGeom prst="rect">
            <a:avLst/>
          </a:prstGeom>
        </p:spPr>
        <p:txBody>
          <a:bodyPr vert="horz" lIns="91440" tIns="45720" rIns="91440" bIns="45720" rtlCol="0" anchor="ctr"/>
          <a:lstStyle>
            <a:lvl1pPr algn="r">
              <a:defRPr sz="1200">
                <a:solidFill>
                  <a:schemeClr val="tx1">
                    <a:tint val="75000"/>
                  </a:schemeClr>
                </a:solidFill>
              </a:defRPr>
            </a:lvl1pPr>
          </a:lstStyle>
          <a:p>
            <a:fld id="{3540333C-72DE-4430-AD46-73728110A4D5}" type="slidenum">
              <a:rPr lang="en-US" smtClean="0"/>
              <a:t>‹#›</a:t>
            </a:fld>
            <a:endParaRPr lang="en-US"/>
          </a:p>
        </p:txBody>
      </p:sp>
    </p:spTree>
    <p:extLst>
      <p:ext uri="{BB962C8B-B14F-4D97-AF65-F5344CB8AC3E}">
        <p14:creationId xmlns:p14="http://schemas.microsoft.com/office/powerpoint/2010/main" val="3593517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www.mysql.org/"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 y="3657600"/>
            <a:ext cx="1874832" cy="2057400"/>
          </a:xfrm>
          <a:prstGeom prst="rect">
            <a:avLst/>
          </a:prstGeom>
        </p:spPr>
      </p:pic>
      <p:pic>
        <p:nvPicPr>
          <p:cNvPr id="10" name="Picture 9"/>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893218" y="3909902"/>
            <a:ext cx="1071563" cy="1071563"/>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06671" y="3909902"/>
            <a:ext cx="2013129" cy="1040031"/>
          </a:xfrm>
          <a:prstGeom prst="rect">
            <a:avLst/>
          </a:prstGeom>
        </p:spPr>
      </p:pic>
      <p:sp>
        <p:nvSpPr>
          <p:cNvPr id="12" name="TextBox 11"/>
          <p:cNvSpPr txBox="1"/>
          <p:nvPr/>
        </p:nvSpPr>
        <p:spPr>
          <a:xfrm>
            <a:off x="1219200" y="886691"/>
            <a:ext cx="4800600" cy="1569660"/>
          </a:xfrm>
          <a:prstGeom prst="rect">
            <a:avLst/>
          </a:prstGeom>
          <a:noFill/>
        </p:spPr>
        <p:txBody>
          <a:bodyPr wrap="square" rtlCol="0">
            <a:spAutoFit/>
          </a:bodyPr>
          <a:lstStyle/>
          <a:p>
            <a:pPr algn="ctr"/>
            <a:r>
              <a:rPr lang="en-US" sz="3200" b="1" dirty="0" smtClean="0">
                <a:latin typeface="Courier New" pitchFamily="49" charset="0"/>
                <a:cs typeface="Courier New" pitchFamily="49" charset="0"/>
              </a:rPr>
              <a:t>Python And MySQL Project including Tkinter(GUI)</a:t>
            </a:r>
            <a:endParaRPr lang="en-US" sz="3200" b="1" dirty="0">
              <a:latin typeface="Courier New" pitchFamily="49" charset="0"/>
              <a:cs typeface="Courier New" pitchFamily="49" charset="0"/>
            </a:endParaRPr>
          </a:p>
        </p:txBody>
      </p:sp>
      <p:sp>
        <p:nvSpPr>
          <p:cNvPr id="13" name="TextBox 12"/>
          <p:cNvSpPr txBox="1"/>
          <p:nvPr/>
        </p:nvSpPr>
        <p:spPr>
          <a:xfrm>
            <a:off x="780679" y="7239000"/>
            <a:ext cx="5239122" cy="1015663"/>
          </a:xfrm>
          <a:prstGeom prst="rect">
            <a:avLst/>
          </a:prstGeom>
          <a:noFill/>
        </p:spPr>
        <p:txBody>
          <a:bodyPr wrap="square" rtlCol="0">
            <a:spAutoFit/>
          </a:bodyPr>
          <a:lstStyle/>
          <a:p>
            <a:r>
              <a:rPr lang="en-US" sz="2000" dirty="0" smtClean="0">
                <a:latin typeface="Bahnschrift SemiLight" pitchFamily="34" charset="0"/>
              </a:rPr>
              <a:t>Made by </a:t>
            </a:r>
          </a:p>
          <a:p>
            <a:r>
              <a:rPr lang="en-US" sz="2000" dirty="0" err="1" smtClean="0">
                <a:latin typeface="Bahnschrift SemiLight" pitchFamily="34" charset="0"/>
              </a:rPr>
              <a:t>Vivek</a:t>
            </a:r>
            <a:r>
              <a:rPr lang="en-US" sz="2000" dirty="0" smtClean="0">
                <a:latin typeface="Bahnschrift SemiLight" pitchFamily="34" charset="0"/>
              </a:rPr>
              <a:t> Kumar, </a:t>
            </a:r>
            <a:r>
              <a:rPr lang="en-US" sz="2000" dirty="0" smtClean="0">
                <a:latin typeface="Bahnschrift SemiLight" pitchFamily="34" charset="0"/>
              </a:rPr>
              <a:t>Aditiya Raj </a:t>
            </a:r>
            <a:r>
              <a:rPr lang="en-US" sz="2000" dirty="0" err="1" smtClean="0">
                <a:latin typeface="Bahnschrift SemiLight" pitchFamily="34" charset="0"/>
              </a:rPr>
              <a:t>Himtania</a:t>
            </a:r>
            <a:r>
              <a:rPr lang="en-US" sz="2000" dirty="0">
                <a:latin typeface="Bahnschrift SemiLight" pitchFamily="34" charset="0"/>
              </a:rPr>
              <a:t> </a:t>
            </a:r>
            <a:endParaRPr lang="en-US" sz="2000" dirty="0" smtClean="0">
              <a:latin typeface="Bahnschrift SemiLight" pitchFamily="34" charset="0"/>
            </a:endParaRPr>
          </a:p>
          <a:p>
            <a:r>
              <a:rPr lang="en-US" sz="2000" dirty="0" smtClean="0">
                <a:latin typeface="Bahnschrift SemiLight" pitchFamily="34" charset="0"/>
              </a:rPr>
              <a:t>and </a:t>
            </a:r>
            <a:r>
              <a:rPr lang="en-US" sz="2000" dirty="0" err="1" smtClean="0">
                <a:latin typeface="Bahnschrift SemiLight" pitchFamily="34" charset="0"/>
              </a:rPr>
              <a:t>Aman</a:t>
            </a:r>
            <a:r>
              <a:rPr lang="en-US" sz="2000" dirty="0" smtClean="0">
                <a:latin typeface="Bahnschrift SemiLight" pitchFamily="34" charset="0"/>
              </a:rPr>
              <a:t> Kumar</a:t>
            </a:r>
            <a:endParaRPr lang="en-US" sz="2000" dirty="0">
              <a:latin typeface="Bahnschrift SemiLight" pitchFamily="34" charset="0"/>
            </a:endParaRPr>
          </a:p>
        </p:txBody>
      </p:sp>
    </p:spTree>
    <p:extLst>
      <p:ext uri="{BB962C8B-B14F-4D97-AF65-F5344CB8AC3E}">
        <p14:creationId xmlns:p14="http://schemas.microsoft.com/office/powerpoint/2010/main" val="9996441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1335083" y="674348"/>
            <a:ext cx="4379917" cy="646331"/>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ACKNOWLEDGEMENT</a:t>
            </a:r>
            <a:endParaRPr 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TextBox 3"/>
          <p:cNvSpPr txBox="1"/>
          <p:nvPr/>
        </p:nvSpPr>
        <p:spPr>
          <a:xfrm>
            <a:off x="731520" y="1752600"/>
            <a:ext cx="5638800" cy="5632311"/>
          </a:xfrm>
          <a:prstGeom prst="rect">
            <a:avLst/>
          </a:prstGeom>
          <a:noFill/>
        </p:spPr>
        <p:txBody>
          <a:bodyPr wrap="square" rtlCol="0">
            <a:spAutoFit/>
          </a:bodyPr>
          <a:lstStyle/>
          <a:p>
            <a:pPr algn="ctr"/>
            <a:r>
              <a:rPr lang="en-US" sz="2400" dirty="0" smtClean="0"/>
              <a:t>I WOULD LIKE TO EXPRESS MY SPECIAL THANKS OF GRATITUTE TO MY TEACHER</a:t>
            </a:r>
          </a:p>
          <a:p>
            <a:pPr algn="ctr"/>
            <a:r>
              <a:rPr lang="en-US" sz="2400" dirty="0" smtClean="0"/>
              <a:t>Mrs. NIDHI UPADHYAY WHO GAME ME AND MY BATCHMATES THE GOLDEN OPPORTUNITY TO DO THIS WONDERFUL PROJECT,WHICH ALSO HELPED ME AND MY BATCHMATES IN DOING A LOT OF RESEARCH AND I CAME TO KNOW ABOUT SO MUCH NEW THINGS .I AM REALLY THANKFUL TO YOU.</a:t>
            </a:r>
          </a:p>
          <a:p>
            <a:pPr algn="ctr"/>
            <a:endParaRPr lang="en-US" sz="2400" dirty="0" smtClean="0"/>
          </a:p>
          <a:p>
            <a:pPr algn="ctr"/>
            <a:r>
              <a:rPr lang="en-US" sz="2400" dirty="0" smtClean="0"/>
              <a:t>SECONDLY,I WOULD LIKE TO THANK MY PARENTS AND FRIENDS WHO HELPED ME A LOT IN FINALIZING THIS PROJECT WITHIN THE LIMITED TIMEFRAME.</a:t>
            </a:r>
            <a:endParaRPr lang="en-US" sz="2400" dirty="0"/>
          </a:p>
        </p:txBody>
      </p:sp>
    </p:spTree>
    <p:extLst>
      <p:ext uri="{BB962C8B-B14F-4D97-AF65-F5344CB8AC3E}">
        <p14:creationId xmlns:p14="http://schemas.microsoft.com/office/powerpoint/2010/main" val="10506065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2160319" y="743634"/>
            <a:ext cx="2537361" cy="646331"/>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CERTIFICATE</a:t>
            </a:r>
            <a:endParaRPr 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TextBox 3"/>
          <p:cNvSpPr txBox="1"/>
          <p:nvPr/>
        </p:nvSpPr>
        <p:spPr>
          <a:xfrm>
            <a:off x="762000" y="1905000"/>
            <a:ext cx="5638800" cy="4154984"/>
          </a:xfrm>
          <a:prstGeom prst="rect">
            <a:avLst/>
          </a:prstGeom>
          <a:noFill/>
        </p:spPr>
        <p:txBody>
          <a:bodyPr wrap="square" rtlCol="0">
            <a:spAutoFit/>
          </a:bodyPr>
          <a:lstStyle/>
          <a:p>
            <a:pPr algn="ctr"/>
            <a:r>
              <a:rPr lang="en-US" sz="2400" dirty="0" smtClean="0"/>
              <a:t>THIS IS TO CERTIFY THAT VIVEK KUMAR, ADITIYA RAJ HIMTANIA AND </a:t>
            </a:r>
            <a:r>
              <a:rPr lang="en-US" sz="2400" dirty="0" smtClean="0"/>
              <a:t>AMAN KUMAR </a:t>
            </a:r>
            <a:r>
              <a:rPr lang="en-US" sz="2400" dirty="0" smtClean="0"/>
              <a:t>STUDENT OF CLASS 12</a:t>
            </a:r>
            <a:r>
              <a:rPr lang="en-US" sz="2400" baseline="30000" dirty="0" smtClean="0"/>
              <a:t>TH</a:t>
            </a:r>
            <a:r>
              <a:rPr lang="en-US" sz="2400" dirty="0" smtClean="0"/>
              <a:t> A HAS SUCCESSFULLY COMPLETED THE RESEACH ON THIS PROJECT UNDER MY SUPERVISION.THEY HAS TAKEN PROPER CARE AND SHOWN UTMOST SINCERITY IN THE COMPLETION OF THIS PROJECT.I CERTIFY THAT THIS PROJECT IS UPTO MY EXPECTATIONS AND AS PER THE GUIDELINES ISSUED BY CBSE.</a:t>
            </a:r>
          </a:p>
        </p:txBody>
      </p:sp>
      <p:sp>
        <p:nvSpPr>
          <p:cNvPr id="5" name="TextBox 4"/>
          <p:cNvSpPr txBox="1"/>
          <p:nvPr/>
        </p:nvSpPr>
        <p:spPr>
          <a:xfrm>
            <a:off x="1219200" y="7275731"/>
            <a:ext cx="1524000" cy="707886"/>
          </a:xfrm>
          <a:prstGeom prst="rect">
            <a:avLst/>
          </a:prstGeom>
          <a:noFill/>
        </p:spPr>
        <p:txBody>
          <a:bodyPr wrap="square" rtlCol="0">
            <a:spAutoFit/>
          </a:bodyPr>
          <a:lstStyle/>
          <a:p>
            <a:r>
              <a:rPr lang="en-US" sz="2000" dirty="0" smtClean="0"/>
              <a:t>TEACHER’S SIGNATURE</a:t>
            </a:r>
            <a:endParaRPr lang="en-US" sz="2000" dirty="0"/>
          </a:p>
        </p:txBody>
      </p:sp>
      <p:sp>
        <p:nvSpPr>
          <p:cNvPr id="6" name="TextBox 5"/>
          <p:cNvSpPr txBox="1"/>
          <p:nvPr/>
        </p:nvSpPr>
        <p:spPr>
          <a:xfrm>
            <a:off x="4648200" y="7315200"/>
            <a:ext cx="1524000" cy="707886"/>
          </a:xfrm>
          <a:prstGeom prst="rect">
            <a:avLst/>
          </a:prstGeom>
          <a:noFill/>
        </p:spPr>
        <p:txBody>
          <a:bodyPr wrap="square" rtlCol="0">
            <a:spAutoFit/>
          </a:bodyPr>
          <a:lstStyle/>
          <a:p>
            <a:r>
              <a:rPr lang="en-US" sz="2000" dirty="0" smtClean="0"/>
              <a:t>EXAMINER’S SIGNATURE</a:t>
            </a:r>
            <a:endParaRPr lang="en-US" sz="2000" dirty="0"/>
          </a:p>
        </p:txBody>
      </p:sp>
    </p:spTree>
    <p:extLst>
      <p:ext uri="{BB962C8B-B14F-4D97-AF65-F5344CB8AC3E}">
        <p14:creationId xmlns:p14="http://schemas.microsoft.com/office/powerpoint/2010/main" val="19579492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914400" y="739427"/>
            <a:ext cx="5638800" cy="8463855"/>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200" b="1" dirty="0" smtClean="0"/>
              <a:t>CONTENTS</a:t>
            </a:r>
          </a:p>
          <a:p>
            <a:pPr algn="ctr"/>
            <a:endParaRPr lang="en-US" sz="3200" b="0" dirty="0" smtClean="0">
              <a:effectLst/>
            </a:endParaRPr>
          </a:p>
          <a:p>
            <a:r>
              <a:rPr lang="en-US" sz="3200" b="1" dirty="0"/>
              <a:t>1. </a:t>
            </a:r>
            <a:r>
              <a:rPr lang="en-US" sz="3200" b="1" dirty="0" smtClean="0"/>
              <a:t>Introduction</a:t>
            </a:r>
            <a:r>
              <a:rPr lang="en-US" sz="3200" dirty="0" smtClean="0"/>
              <a:t> </a:t>
            </a:r>
            <a:endParaRPr lang="en-US" sz="3200" b="0" dirty="0" smtClean="0">
              <a:effectLst/>
            </a:endParaRPr>
          </a:p>
          <a:p>
            <a:r>
              <a:rPr lang="en-US" sz="3200" b="1" dirty="0"/>
              <a:t>2. Objective &amp; Scope of the Project</a:t>
            </a:r>
            <a:r>
              <a:rPr lang="en-US" sz="3200" dirty="0"/>
              <a:t> </a:t>
            </a:r>
            <a:endParaRPr lang="en-US" sz="3200" b="0" dirty="0" smtClean="0">
              <a:effectLst/>
            </a:endParaRPr>
          </a:p>
          <a:p>
            <a:r>
              <a:rPr lang="en-US" sz="3200" b="1" dirty="0"/>
              <a:t>3. Theoretical Background</a:t>
            </a:r>
            <a:r>
              <a:rPr lang="en-US" sz="3200" dirty="0"/>
              <a:t> </a:t>
            </a:r>
            <a:endParaRPr lang="en-US" sz="3200" b="0" dirty="0" smtClean="0">
              <a:effectLst/>
            </a:endParaRPr>
          </a:p>
          <a:p>
            <a:r>
              <a:rPr lang="en-US" sz="3200" b="1" dirty="0"/>
              <a:t>4. System Implementation</a:t>
            </a:r>
            <a:r>
              <a:rPr lang="en-US" sz="3200" dirty="0"/>
              <a:t> </a:t>
            </a:r>
            <a:endParaRPr lang="en-US" sz="3200" b="0" dirty="0" smtClean="0">
              <a:effectLst/>
            </a:endParaRPr>
          </a:p>
          <a:p>
            <a:r>
              <a:rPr lang="en-US" sz="3200" dirty="0"/>
              <a:t>4.1 The Hardware used: </a:t>
            </a:r>
            <a:endParaRPr lang="en-US" sz="3200" b="0" dirty="0" smtClean="0">
              <a:effectLst/>
            </a:endParaRPr>
          </a:p>
          <a:p>
            <a:r>
              <a:rPr lang="en-US" sz="3200" dirty="0"/>
              <a:t>4.2 The Softwares used: </a:t>
            </a:r>
            <a:endParaRPr lang="en-US" sz="3200" b="0" dirty="0" smtClean="0">
              <a:effectLst/>
            </a:endParaRPr>
          </a:p>
          <a:p>
            <a:r>
              <a:rPr lang="en-US" sz="3200" b="1" dirty="0"/>
              <a:t>5. System Design &amp; Development</a:t>
            </a:r>
            <a:r>
              <a:rPr lang="en-US" sz="3200" dirty="0"/>
              <a:t> </a:t>
            </a:r>
            <a:endParaRPr lang="en-US" sz="3200" b="0" dirty="0" smtClean="0">
              <a:effectLst/>
            </a:endParaRPr>
          </a:p>
          <a:p>
            <a:r>
              <a:rPr lang="en-US" sz="3200" dirty="0"/>
              <a:t>5.1 </a:t>
            </a:r>
            <a:r>
              <a:rPr lang="en-US" sz="3200" dirty="0" smtClean="0"/>
              <a:t>Project Code:</a:t>
            </a:r>
          </a:p>
          <a:p>
            <a:r>
              <a:rPr lang="en-US" sz="3200" dirty="0" smtClean="0"/>
              <a:t>5.2 Output: </a:t>
            </a:r>
            <a:endParaRPr lang="en-US" sz="3200" b="0" dirty="0" smtClean="0">
              <a:effectLst/>
            </a:endParaRPr>
          </a:p>
          <a:p>
            <a:r>
              <a:rPr lang="en-US" sz="3200" b="1" dirty="0"/>
              <a:t>6. User Manual</a:t>
            </a:r>
            <a:r>
              <a:rPr lang="en-US" sz="3200" dirty="0"/>
              <a:t> </a:t>
            </a:r>
            <a:endParaRPr lang="en-US" sz="3200" b="0" dirty="0" smtClean="0">
              <a:effectLst/>
            </a:endParaRPr>
          </a:p>
          <a:p>
            <a:r>
              <a:rPr lang="en-US" sz="3200" b="1" dirty="0" smtClean="0"/>
              <a:t>7</a:t>
            </a:r>
            <a:r>
              <a:rPr lang="en-US" sz="3200" b="1" dirty="0"/>
              <a:t>. References </a:t>
            </a:r>
            <a:endParaRPr lang="en-US" sz="3200" b="0" dirty="0" smtClean="0">
              <a:effectLst/>
            </a:endParaRPr>
          </a:p>
          <a:p>
            <a:r>
              <a:rPr lang="en-US" sz="3200" dirty="0" smtClean="0"/>
              <a:t/>
            </a:r>
            <a:br>
              <a:rPr lang="en-US" sz="3200" dirty="0" smtClean="0"/>
            </a:br>
            <a:endPar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7360446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2133600" y="685800"/>
            <a:ext cx="2878865" cy="58477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32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INTRODUCTION</a:t>
            </a:r>
            <a:endParaRPr 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TextBox 3"/>
          <p:cNvSpPr txBox="1"/>
          <p:nvPr/>
        </p:nvSpPr>
        <p:spPr>
          <a:xfrm>
            <a:off x="923810" y="1219200"/>
            <a:ext cx="5410201" cy="4247317"/>
          </a:xfrm>
          <a:prstGeom prst="rect">
            <a:avLst/>
          </a:prstGeom>
          <a:noFill/>
        </p:spPr>
        <p:txBody>
          <a:bodyPr wrap="square" rtlCol="0">
            <a:spAutoFit/>
          </a:bodyPr>
          <a:lstStyle/>
          <a:p>
            <a:r>
              <a:rPr lang="en-US" dirty="0" smtClean="0"/>
              <a:t>In today’s world, efficient and secure management of banking operations is essential for both financial institutions and customers. </a:t>
            </a:r>
            <a:endParaRPr lang="en-US" dirty="0"/>
          </a:p>
          <a:p>
            <a:r>
              <a:rPr lang="en-US" dirty="0" smtClean="0"/>
              <a:t>This project, </a:t>
            </a:r>
            <a:r>
              <a:rPr lang="en-US" b="1" dirty="0" smtClean="0"/>
              <a:t>Bank Management System</a:t>
            </a:r>
            <a:r>
              <a:rPr lang="en-US" dirty="0" smtClean="0"/>
              <a:t>, is developed using Python to streamline basic banking operations, ensuring ease of use, security, and reliability.</a:t>
            </a:r>
          </a:p>
          <a:p>
            <a:r>
              <a:rPr lang="en-US" dirty="0" smtClean="0"/>
              <a:t>The </a:t>
            </a:r>
            <a:r>
              <a:rPr lang="en-US" b="1" dirty="0" smtClean="0"/>
              <a:t>Bank Management System</a:t>
            </a:r>
            <a:r>
              <a:rPr lang="en-US" dirty="0" smtClean="0"/>
              <a:t> is designed to simulate fundamental banking functionalities such as account creation, balance inquiry, deposits, withdrawals, and account closure. It serves as a practical application of core programming concepts like file handling, data structures, and exception handling, while also showcasing how technology can be leveraged to optimize real-world processes.</a:t>
            </a:r>
          </a:p>
          <a:p>
            <a:endParaRPr lang="en-US" dirty="0"/>
          </a:p>
        </p:txBody>
      </p:sp>
      <p:sp>
        <p:nvSpPr>
          <p:cNvPr id="5" name="Rectangle 4"/>
          <p:cNvSpPr/>
          <p:nvPr/>
        </p:nvSpPr>
        <p:spPr>
          <a:xfrm>
            <a:off x="847611" y="5581710"/>
            <a:ext cx="5486400" cy="3693319"/>
          </a:xfrm>
          <a:prstGeom prst="rect">
            <a:avLst/>
          </a:prstGeom>
        </p:spPr>
        <p:txBody>
          <a:bodyPr wrap="square">
            <a:spAutoFit/>
          </a:bodyPr>
          <a:lstStyle/>
          <a:p>
            <a:r>
              <a:rPr lang="en-US" dirty="0" smtClean="0"/>
              <a:t>The </a:t>
            </a:r>
            <a:r>
              <a:rPr lang="en-US" dirty="0"/>
              <a:t>objective of the software project is to develop the functions of </a:t>
            </a:r>
            <a:r>
              <a:rPr lang="en-US" dirty="0" smtClean="0"/>
              <a:t>Bank. </a:t>
            </a:r>
            <a:r>
              <a:rPr lang="en-US" dirty="0"/>
              <a:t>This software project is also aimed to enhance the current record keeping system, which will help managers to retrieve the up-to-date information at right time in right shape.</a:t>
            </a:r>
            <a:endParaRPr lang="en-US" b="0" dirty="0" smtClean="0">
              <a:effectLst/>
            </a:endParaRPr>
          </a:p>
          <a:p>
            <a:endParaRPr lang="en-US" dirty="0" smtClean="0"/>
          </a:p>
          <a:p>
            <a:r>
              <a:rPr lang="en-US" dirty="0" smtClean="0"/>
              <a:t>The </a:t>
            </a:r>
            <a:r>
              <a:rPr lang="en-US" dirty="0"/>
              <a:t>proposed software system is expected to do the </a:t>
            </a:r>
            <a:r>
              <a:rPr lang="en-US" dirty="0" smtClean="0"/>
              <a:t>following  functionality-</a:t>
            </a:r>
          </a:p>
          <a:p>
            <a:pPr marL="285750" indent="-285750" fontAlgn="base">
              <a:buFont typeface="Wingdings" pitchFamily="2" charset="2"/>
              <a:buChar char="Ø"/>
            </a:pPr>
            <a:r>
              <a:rPr lang="en-US" dirty="0" smtClean="0"/>
              <a:t>To provide a user friendly.  </a:t>
            </a:r>
          </a:p>
          <a:p>
            <a:pPr marL="285750" indent="-285750" fontAlgn="base">
              <a:buFont typeface="Wingdings" pitchFamily="2" charset="2"/>
              <a:buChar char="Ø"/>
            </a:pPr>
            <a:r>
              <a:rPr lang="en-US" dirty="0" smtClean="0"/>
              <a:t>The proposed system should maintain all the records and transactions, and should generate the required reports and information when required.</a:t>
            </a:r>
            <a:br>
              <a:rPr lang="en-US" dirty="0" smtClean="0"/>
            </a:br>
            <a:endParaRPr lang="en-US" dirty="0"/>
          </a:p>
        </p:txBody>
      </p:sp>
      <p:sp>
        <p:nvSpPr>
          <p:cNvPr id="6" name="TextBox 5"/>
          <p:cNvSpPr txBox="1"/>
          <p:nvPr/>
        </p:nvSpPr>
        <p:spPr>
          <a:xfrm>
            <a:off x="832371" y="5181600"/>
            <a:ext cx="3688446" cy="400110"/>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Objective &amp; Scope of the Project </a:t>
            </a:r>
            <a:endParaRPr lang="en-US" sz="2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211262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5" name="Rectangle 4"/>
          <p:cNvSpPr/>
          <p:nvPr/>
        </p:nvSpPr>
        <p:spPr>
          <a:xfrm>
            <a:off x="838200" y="685800"/>
            <a:ext cx="5562600" cy="7848302"/>
          </a:xfrm>
          <a:prstGeom prst="rect">
            <a:avLst/>
          </a:prstGeom>
        </p:spPr>
        <p:txBody>
          <a:bodyPr wrap="square">
            <a:spAutoFit/>
          </a:bodyPr>
          <a:lstStyle/>
          <a:p>
            <a:pPr marL="285750" indent="-285750" fontAlgn="base">
              <a:buFont typeface="Wingdings" pitchFamily="2" charset="2"/>
              <a:buChar char="Ø"/>
            </a:pPr>
            <a:r>
              <a:rPr lang="en-US" dirty="0" smtClean="0"/>
              <a:t>To </a:t>
            </a:r>
            <a:r>
              <a:rPr lang="en-US" dirty="0"/>
              <a:t>provide graphical and user-friendly interface to interact with a centralized database based on client-server architecture.</a:t>
            </a:r>
          </a:p>
          <a:p>
            <a:pPr marL="285750" indent="-285750" fontAlgn="base">
              <a:buFont typeface="Wingdings" pitchFamily="2" charset="2"/>
              <a:buChar char="Ø"/>
            </a:pPr>
            <a:r>
              <a:rPr lang="en-US" dirty="0"/>
              <a:t>To identify the critical operation procedure and possibilities of simplification using modern IT tools and practices.</a:t>
            </a:r>
          </a:p>
          <a:p>
            <a:r>
              <a:rPr lang="en-US" dirty="0"/>
              <a:t>In its current scope, the software enables Officer to retrieve and update the information from centralized database designed with MySQL . This software does not require much training time of the users due to limited functionality and simplicity.</a:t>
            </a:r>
            <a:endParaRPr lang="en-US" b="0" dirty="0" smtClean="0">
              <a:effectLst/>
            </a:endParaRPr>
          </a:p>
          <a:p>
            <a:r>
              <a:rPr lang="en-US" dirty="0"/>
              <a:t>Despite of the best effort of the developer, the following limitations and functional boundaries are visible, which limits the scope of this application software.</a:t>
            </a:r>
            <a:endParaRPr lang="en-US" b="0" dirty="0" smtClean="0">
              <a:effectLst/>
            </a:endParaRPr>
          </a:p>
          <a:p>
            <a:pPr marL="285750" indent="-285750" fontAlgn="base">
              <a:buFont typeface="Wingdings" pitchFamily="2" charset="2"/>
              <a:buChar char="Ø"/>
            </a:pPr>
            <a:r>
              <a:rPr lang="en-US" dirty="0"/>
              <a:t>This software can store records and produce reports in pre-designed format in soft copy. There is no facility yet to produce customized reports. Only specified reports are covered. </a:t>
            </a:r>
          </a:p>
          <a:p>
            <a:pPr marL="285750" indent="-285750" fontAlgn="base">
              <a:buFont typeface="Wingdings" pitchFamily="2" charset="2"/>
              <a:buChar char="Ø"/>
            </a:pPr>
            <a:r>
              <a:rPr lang="en-US" dirty="0"/>
              <a:t>There is no provision to calculate fine or penalty etc. for defaulter members; however it can be developed easily with the help of adding modules. </a:t>
            </a:r>
          </a:p>
          <a:p>
            <a:pPr marL="285750" indent="-285750" fontAlgn="base">
              <a:buFont typeface="Wingdings" pitchFamily="2" charset="2"/>
              <a:buChar char="Ø"/>
            </a:pPr>
            <a:r>
              <a:rPr lang="en-US" dirty="0"/>
              <a:t>Some application areas like </a:t>
            </a:r>
            <a:r>
              <a:rPr lang="en-US" dirty="0" err="1"/>
              <a:t>Updation</a:t>
            </a:r>
            <a:r>
              <a:rPr lang="en-US" dirty="0"/>
              <a:t> along with late return fine, Fees defaulters etc. are not implemented in the project. This project is made by keeping in mind that it is to be used only by Officers, which can facilitate ease control. </a:t>
            </a:r>
          </a:p>
          <a:p>
            <a:r>
              <a:rPr lang="en-US" dirty="0" smtClean="0"/>
              <a:t/>
            </a:r>
            <a:br>
              <a:rPr lang="en-US" dirty="0" smtClean="0"/>
            </a:br>
            <a:endParaRPr lang="en-US" dirty="0"/>
          </a:p>
        </p:txBody>
      </p:sp>
    </p:spTree>
    <p:extLst>
      <p:ext uri="{BB962C8B-B14F-4D97-AF65-F5344CB8AC3E}">
        <p14:creationId xmlns:p14="http://schemas.microsoft.com/office/powerpoint/2010/main" val="31422895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1954370" y="683567"/>
            <a:ext cx="3227230" cy="400110"/>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THEORETICAL BACKGROUND</a:t>
            </a:r>
            <a:endParaRPr lang="en-US" sz="2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Rectangle 3"/>
          <p:cNvSpPr/>
          <p:nvPr/>
        </p:nvSpPr>
        <p:spPr>
          <a:xfrm>
            <a:off x="838199" y="1144577"/>
            <a:ext cx="5549185" cy="8402300"/>
          </a:xfrm>
          <a:prstGeom prst="rect">
            <a:avLst/>
          </a:prstGeom>
        </p:spPr>
        <p:txBody>
          <a:bodyPr wrap="square">
            <a:spAutoFit/>
          </a:bodyPr>
          <a:lstStyle/>
          <a:p>
            <a:r>
              <a:rPr lang="en-US" b="1" i="1" dirty="0" smtClean="0">
                <a:solidFill>
                  <a:schemeClr val="tx2">
                    <a:lumMod val="60000"/>
                    <a:lumOff val="40000"/>
                  </a:schemeClr>
                </a:solidFill>
              </a:rPr>
              <a:t>What </a:t>
            </a:r>
            <a:r>
              <a:rPr lang="en-US" b="1" i="1" dirty="0">
                <a:solidFill>
                  <a:schemeClr val="tx2">
                    <a:lumMod val="60000"/>
                    <a:lumOff val="40000"/>
                  </a:schemeClr>
                </a:solidFill>
              </a:rPr>
              <a:t>is Database?</a:t>
            </a:r>
            <a:endParaRPr lang="en-US" b="1" dirty="0" smtClean="0">
              <a:solidFill>
                <a:schemeClr val="tx2">
                  <a:lumMod val="60000"/>
                  <a:lumOff val="40000"/>
                </a:schemeClr>
              </a:solidFill>
              <a:effectLst/>
            </a:endParaRPr>
          </a:p>
          <a:p>
            <a:endParaRPr lang="en-US" b="1" dirty="0" smtClean="0"/>
          </a:p>
          <a:p>
            <a:r>
              <a:rPr lang="en-US" b="1" dirty="0" smtClean="0">
                <a:solidFill>
                  <a:srgbClr val="00B050"/>
                </a:solidFill>
              </a:rPr>
              <a:t>Introduction </a:t>
            </a:r>
            <a:r>
              <a:rPr lang="en-US" b="1" dirty="0">
                <a:solidFill>
                  <a:srgbClr val="00B050"/>
                </a:solidFill>
              </a:rPr>
              <a:t>and Concepts:</a:t>
            </a:r>
            <a:endParaRPr lang="en-US" b="1" dirty="0" smtClean="0">
              <a:solidFill>
                <a:srgbClr val="00B050"/>
              </a:solidFill>
              <a:effectLst/>
            </a:endParaRPr>
          </a:p>
          <a:p>
            <a:r>
              <a:rPr lang="en-US" dirty="0"/>
              <a:t>A database is a collection of information related to a particular subject or purpose, such as tracking customer orders or maintaining a product collection. Using any RDBMS application software like MS SQL Server, MySQL, Oracle, Sybase </a:t>
            </a:r>
            <a:r>
              <a:rPr lang="en-US" dirty="0" err="1"/>
              <a:t>etc</a:t>
            </a:r>
            <a:r>
              <a:rPr lang="en-US" dirty="0"/>
              <a:t>, you can manage all your information from a single database file. Within the file, divide your data into separate storage containers called tables. You may and retrieve the data using queries. </a:t>
            </a:r>
            <a:endParaRPr lang="en-US" b="0" dirty="0" smtClean="0">
              <a:effectLst/>
            </a:endParaRPr>
          </a:p>
          <a:p>
            <a:r>
              <a:rPr lang="en-US" dirty="0"/>
              <a:t>A table is a collection of data about a specific topic, such as products or suppliers. Using a separate table for each topic means you can store that data only once, which makes your database more efficient and reduces data-entry errors. Table </a:t>
            </a:r>
            <a:r>
              <a:rPr lang="en-US" dirty="0" err="1"/>
              <a:t>organises</a:t>
            </a:r>
            <a:r>
              <a:rPr lang="en-US" dirty="0"/>
              <a:t> data into columns (called fields) and rows (called records). </a:t>
            </a:r>
            <a:endParaRPr lang="en-US" b="0" dirty="0" smtClean="0">
              <a:effectLst/>
            </a:endParaRPr>
          </a:p>
          <a:p>
            <a:r>
              <a:rPr lang="en-US" dirty="0"/>
              <a:t>A Primary key is one or more fields whose value or values uniquely identify each record in a table. In a relationship, a primary key is used to refer to specific record in one table from another table. A primary key is called foreign key when it is referred to from another table. </a:t>
            </a:r>
            <a:endParaRPr lang="en-US" b="0" dirty="0" smtClean="0">
              <a:effectLst/>
            </a:endParaRPr>
          </a:p>
          <a:p>
            <a:r>
              <a:rPr lang="en-US" b="0" dirty="0" smtClean="0">
                <a:effectLst/>
              </a:rPr>
              <a:t/>
            </a:r>
            <a:br>
              <a:rPr lang="en-US" b="0" dirty="0" smtClean="0">
                <a:effectLst/>
              </a:rPr>
            </a:br>
            <a:r>
              <a:rPr lang="en-US" dirty="0"/>
              <a:t>To find and retrieve just the data that meets conditions you specify, including data from multiple tables, create a query. A query can also update or delete multiple records at the same time, and perform built-in or custom calculations on your data.</a:t>
            </a:r>
            <a:endParaRPr lang="en-US" b="0" dirty="0" smtClean="0">
              <a:effectLst/>
            </a:endParaRPr>
          </a:p>
          <a:p>
            <a:r>
              <a:rPr lang="en-US" dirty="0" smtClean="0"/>
              <a:t/>
            </a:r>
            <a:br>
              <a:rPr lang="en-US" dirty="0" smtClean="0"/>
            </a:br>
            <a:endParaRPr lang="en-US" dirty="0"/>
          </a:p>
        </p:txBody>
      </p:sp>
    </p:spTree>
    <p:extLst>
      <p:ext uri="{BB962C8B-B14F-4D97-AF65-F5344CB8AC3E}">
        <p14:creationId xmlns:p14="http://schemas.microsoft.com/office/powerpoint/2010/main" val="25792393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Rectangle 1"/>
          <p:cNvSpPr>
            <a:spLocks noChangeArrowheads="1"/>
          </p:cNvSpPr>
          <p:nvPr/>
        </p:nvSpPr>
        <p:spPr bwMode="auto">
          <a:xfrm>
            <a:off x="824345" y="770360"/>
            <a:ext cx="5500255" cy="379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52352" rIns="91440" bIns="38088"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1" u="none" strike="noStrike" cap="none" normalizeH="0" baseline="0" dirty="0" smtClean="0">
                <a:ln>
                  <a:noFill/>
                </a:ln>
                <a:solidFill>
                  <a:srgbClr val="00B050"/>
                </a:solidFill>
                <a:effectLst/>
                <a:latin typeface="+mj-lt"/>
                <a:cs typeface="Arial" pitchFamily="34" charset="0"/>
              </a:rPr>
              <a:t>What </a:t>
            </a:r>
            <a:r>
              <a:rPr kumimoji="0" lang="en-US" b="1" i="1" u="none" strike="noStrike" cap="none" normalizeH="0" baseline="0" dirty="0" err="1" smtClean="0">
                <a:ln>
                  <a:noFill/>
                </a:ln>
                <a:solidFill>
                  <a:srgbClr val="00B050"/>
                </a:solidFill>
                <a:effectLst/>
                <a:latin typeface="+mj-lt"/>
                <a:cs typeface="Arial" pitchFamily="34" charset="0"/>
              </a:rPr>
              <a:t>isMySQL</a:t>
            </a:r>
            <a:r>
              <a:rPr kumimoji="0" lang="en-US" b="1" i="1" u="none" strike="noStrike" cap="none" normalizeH="0" baseline="0" dirty="0" smtClean="0">
                <a:ln>
                  <a:noFill/>
                </a:ln>
                <a:solidFill>
                  <a:srgbClr val="00B050"/>
                </a:solidFill>
                <a:effectLst/>
                <a:latin typeface="+mj-lt"/>
                <a:cs typeface="Arial" pitchFamily="34" charset="0"/>
              </a:rPr>
              <a:t>  ? </a:t>
            </a:r>
            <a:r>
              <a:rPr kumimoji="0" lang="en-US" b="1" i="1" u="none" strike="noStrike" cap="none" normalizeH="0" baseline="0" dirty="0" smtClean="0">
                <a:ln>
                  <a:noFill/>
                </a:ln>
                <a:solidFill>
                  <a:srgbClr val="FF0000"/>
                </a:solidFill>
                <a:effectLst/>
                <a:latin typeface="+mj-lt"/>
                <a:cs typeface="Arial" pitchFamily="34" charset="0"/>
              </a:rPr>
              <a:t>  </a:t>
            </a:r>
            <a:r>
              <a:rPr kumimoji="0" lang="en-US" b="1" i="1" u="none" strike="noStrike" cap="none" normalizeH="0" baseline="0" dirty="0" smtClean="0">
                <a:ln>
                  <a:noFill/>
                </a:ln>
                <a:solidFill>
                  <a:srgbClr val="000000"/>
                </a:solidFill>
                <a:effectLst/>
                <a:latin typeface="+mj-lt"/>
                <a:cs typeface="Arial" pitchFamily="34" charset="0"/>
              </a:rPr>
              <a:t>                                                                      </a:t>
            </a:r>
            <a:endParaRPr kumimoji="0" lang="en-US" b="1"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mj-lt"/>
                <a:cs typeface="Times New Roman" pitchFamily="18" charset="0"/>
              </a:rPr>
              <a:t>The management of data in a database system is done by means of a general-purpose software package called a Database Management System (DBMS). Some commercially available RDBMS are MS SQL Server, MS ACCESS, INGRES, ORACLE, and Sybase. </a:t>
            </a: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mj-lt"/>
                <a:cs typeface="Times New Roman" pitchFamily="18" charset="0"/>
              </a:rPr>
              <a:t>MySQL, the most popular Open Source SQL database management system, is developed, distributed, and supported by Oracle Corporation. MySQL is named after co-founder Monty </a:t>
            </a:r>
            <a:r>
              <a:rPr kumimoji="0" lang="en-US" b="0" i="0" u="none" strike="noStrike" cap="none" normalizeH="0" baseline="0" dirty="0" err="1" smtClean="0">
                <a:ln>
                  <a:noFill/>
                </a:ln>
                <a:solidFill>
                  <a:srgbClr val="000000"/>
                </a:solidFill>
                <a:effectLst/>
                <a:latin typeface="+mj-lt"/>
                <a:cs typeface="Times New Roman" pitchFamily="18" charset="0"/>
              </a:rPr>
              <a:t>Widenius's</a:t>
            </a:r>
            <a:r>
              <a:rPr kumimoji="0" lang="en-US" b="0" i="0" u="none" strike="noStrike" cap="none" normalizeH="0" baseline="0" dirty="0" smtClean="0">
                <a:ln>
                  <a:noFill/>
                </a:ln>
                <a:solidFill>
                  <a:srgbClr val="000000"/>
                </a:solidFill>
                <a:effectLst/>
                <a:latin typeface="+mj-lt"/>
                <a:cs typeface="Times New Roman" pitchFamily="18" charset="0"/>
              </a:rPr>
              <a:t> daughter, My. The name of the MySQL Dolphin (our logo) is “</a:t>
            </a:r>
            <a:r>
              <a:rPr kumimoji="0" lang="en-US" b="0" i="0" u="none" strike="noStrike" cap="none" normalizeH="0" baseline="0" dirty="0" err="1" smtClean="0">
                <a:ln>
                  <a:noFill/>
                </a:ln>
                <a:solidFill>
                  <a:srgbClr val="000000"/>
                </a:solidFill>
                <a:effectLst/>
                <a:latin typeface="+mj-lt"/>
                <a:cs typeface="Times New Roman" pitchFamily="18" charset="0"/>
              </a:rPr>
              <a:t>Sakila</a:t>
            </a:r>
            <a:r>
              <a:rPr kumimoji="0" lang="en-US" b="0" i="0" u="none" strike="noStrike" cap="none" normalizeH="0" baseline="0" dirty="0" smtClean="0">
                <a:ln>
                  <a:noFill/>
                </a:ln>
                <a:solidFill>
                  <a:srgbClr val="000000"/>
                </a:solidFill>
                <a:effectLst/>
                <a:latin typeface="+mj-lt"/>
                <a:cs typeface="Times New Roman" pitchFamily="18" charset="0"/>
              </a:rPr>
              <a:t>,”. </a:t>
            </a:r>
            <a:endParaRPr kumimoji="0" lang="en-US" b="0" i="0" u="none" strike="noStrike" cap="none" normalizeH="0" baseline="0" dirty="0" smtClean="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1" u="none" strike="noStrike" cap="none" normalizeH="0" baseline="0" dirty="0" smtClean="0">
                <a:ln>
                  <a:noFill/>
                </a:ln>
                <a:solidFill>
                  <a:srgbClr val="000000"/>
                </a:solidFill>
                <a:effectLst/>
                <a:latin typeface="+mj-lt"/>
                <a:cs typeface="Arial" pitchFamily="34" charset="0"/>
              </a:rPr>
              <a:t/>
            </a:r>
            <a:br>
              <a:rPr kumimoji="0" lang="en-US" b="1" i="1" u="none" strike="noStrike" cap="none" normalizeH="0" baseline="0" dirty="0" smtClean="0">
                <a:ln>
                  <a:noFill/>
                </a:ln>
                <a:solidFill>
                  <a:srgbClr val="000000"/>
                </a:solidFill>
                <a:effectLst/>
                <a:latin typeface="+mj-lt"/>
                <a:cs typeface="Arial" pitchFamily="34" charset="0"/>
              </a:rPr>
            </a:br>
            <a:endParaRPr kumimoji="0" lang="en-US" b="1" i="1" u="none" strike="noStrike" cap="none" normalizeH="0" baseline="0" dirty="0" smtClean="0">
              <a:ln>
                <a:noFill/>
              </a:ln>
              <a:solidFill>
                <a:srgbClr val="000000"/>
              </a:solidFill>
              <a:effectLst/>
              <a:latin typeface="+mj-lt"/>
              <a:cs typeface="Arial" pitchFamily="34" charset="0"/>
            </a:endParaRPr>
          </a:p>
        </p:txBody>
      </p:sp>
      <p:pic>
        <p:nvPicPr>
          <p:cNvPr id="1026" name="Picture 2" descr="https://lh7-rt.googleusercontent.com/docsz/AD_4nXeCk1iI0MbXPGWM553tb2WEh0qO6M0l-KfE_ZJDihjBDISvnFAjPOwTfFcG6DJ2i-A5K12GFJ-QSFPIJFaVur02xwv3JPCEqSWlq2eTmlg8HvEcuH7fQ-SZKA_iwgngGcE8e3p2ARSK2j9CbdfaWvm5ugFnqI5_mY06iJtfeV3Nf9HCgFgFDA?key=OlXTCzuEuA0HeWCGFdVtM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330" y="762000"/>
            <a:ext cx="895350" cy="466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24345" y="4114800"/>
            <a:ext cx="5500255" cy="5078313"/>
          </a:xfrm>
          <a:prstGeom prst="rect">
            <a:avLst/>
          </a:prstGeom>
        </p:spPr>
        <p:txBody>
          <a:bodyPr wrap="square">
            <a:spAutoFit/>
          </a:bodyPr>
          <a:lstStyle/>
          <a:p>
            <a:r>
              <a:rPr lang="en-US" b="1" dirty="0">
                <a:solidFill>
                  <a:srgbClr val="00B050"/>
                </a:solidFill>
              </a:rPr>
              <a:t>The Main Features of MySQL</a:t>
            </a:r>
            <a:endParaRPr lang="en-US" b="0" dirty="0" smtClean="0">
              <a:solidFill>
                <a:srgbClr val="00B050"/>
              </a:solidFill>
              <a:effectLst/>
            </a:endParaRPr>
          </a:p>
          <a:p>
            <a:pPr marL="285750" indent="-285750" fontAlgn="base">
              <a:buFont typeface="Wingdings" pitchFamily="2" charset="2"/>
              <a:buChar char="Ø"/>
            </a:pPr>
            <a:r>
              <a:rPr lang="en-US" dirty="0"/>
              <a:t>Written in C and C++. </a:t>
            </a:r>
          </a:p>
          <a:p>
            <a:pPr marL="285750" indent="-285750" fontAlgn="base">
              <a:buFont typeface="Wingdings" pitchFamily="2" charset="2"/>
              <a:buChar char="Ø"/>
            </a:pPr>
            <a:r>
              <a:rPr lang="en-US" dirty="0"/>
              <a:t>Works on many different platforms. </a:t>
            </a:r>
          </a:p>
          <a:p>
            <a:pPr marL="285750" indent="-285750" fontAlgn="base">
              <a:buFont typeface="Wingdings" pitchFamily="2" charset="2"/>
              <a:buChar char="Ø"/>
            </a:pPr>
            <a:r>
              <a:rPr lang="en-US" dirty="0"/>
              <a:t>Uses multi-layered server design with independent modules. </a:t>
            </a:r>
          </a:p>
          <a:p>
            <a:pPr marL="285750" indent="-285750" fontAlgn="base">
              <a:buFont typeface="Wingdings" pitchFamily="2" charset="2"/>
              <a:buChar char="Ø"/>
            </a:pPr>
            <a:r>
              <a:rPr lang="en-US" dirty="0"/>
              <a:t>Provides transactional and </a:t>
            </a:r>
            <a:r>
              <a:rPr lang="en-US" dirty="0" err="1"/>
              <a:t>nontransactional</a:t>
            </a:r>
            <a:r>
              <a:rPr lang="en-US" dirty="0"/>
              <a:t> storage engines. </a:t>
            </a:r>
          </a:p>
          <a:p>
            <a:pPr marL="285750" indent="-285750" fontAlgn="base">
              <a:buFont typeface="Wingdings" pitchFamily="2" charset="2"/>
              <a:buChar char="Ø"/>
            </a:pPr>
            <a:r>
              <a:rPr lang="en-US" dirty="0"/>
              <a:t>Designed to make it relatively easy to add other storage engines. This is useful if you want to provide an SQL interface for an in-house database. </a:t>
            </a:r>
          </a:p>
          <a:p>
            <a:pPr marL="285750" indent="-285750" fontAlgn="base">
              <a:buFont typeface="Wingdings" pitchFamily="2" charset="2"/>
              <a:buChar char="Ø"/>
            </a:pPr>
            <a:r>
              <a:rPr lang="en-US" dirty="0"/>
              <a:t>Uses a very fast thread-based memory allocation system. </a:t>
            </a:r>
          </a:p>
          <a:p>
            <a:pPr marL="285750" indent="-285750" fontAlgn="base">
              <a:buFont typeface="Wingdings" pitchFamily="2" charset="2"/>
              <a:buChar char="Ø"/>
            </a:pPr>
            <a:r>
              <a:rPr lang="en-US" dirty="0"/>
              <a:t>Executes very fast joins using an optimized nested-loop join. </a:t>
            </a:r>
          </a:p>
          <a:p>
            <a:pPr marL="285750" indent="-285750" fontAlgn="base">
              <a:buFont typeface="Wingdings" pitchFamily="2" charset="2"/>
              <a:buChar char="Ø"/>
            </a:pPr>
            <a:r>
              <a:rPr lang="en-US" dirty="0"/>
              <a:t>Implements SQL functions using a highly optimized class library that should be as fast as possible. Usually there is no memory allocation at all after query initialization. </a:t>
            </a:r>
          </a:p>
        </p:txBody>
      </p:sp>
    </p:spTree>
    <p:extLst>
      <p:ext uri="{BB962C8B-B14F-4D97-AF65-F5344CB8AC3E}">
        <p14:creationId xmlns:p14="http://schemas.microsoft.com/office/powerpoint/2010/main" val="16908518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Rectangle 2"/>
          <p:cNvSpPr/>
          <p:nvPr/>
        </p:nvSpPr>
        <p:spPr>
          <a:xfrm>
            <a:off x="762000" y="838200"/>
            <a:ext cx="5638800" cy="3970318"/>
          </a:xfrm>
          <a:prstGeom prst="rect">
            <a:avLst/>
          </a:prstGeom>
        </p:spPr>
        <p:txBody>
          <a:bodyPr wrap="square">
            <a:spAutoFit/>
          </a:bodyPr>
          <a:lstStyle/>
          <a:p>
            <a:pPr marL="285750" indent="-285750" fontAlgn="base">
              <a:buFont typeface="Wingdings" pitchFamily="2" charset="2"/>
              <a:buChar char="Ø"/>
            </a:pPr>
            <a:r>
              <a:rPr lang="en-US" dirty="0"/>
              <a:t>MySQL client programs can be written in many languages. A client library written in C is available for clients written in C or C++, or for any language that provides C bindings. </a:t>
            </a:r>
          </a:p>
          <a:p>
            <a:pPr marL="285750" indent="-285750" fontAlgn="base">
              <a:buFont typeface="Wingdings" pitchFamily="2" charset="2"/>
              <a:buChar char="Ø"/>
            </a:pPr>
            <a:r>
              <a:rPr lang="en-US" dirty="0"/>
              <a:t>APIs for C, C++, Eiffel, Java, Perl, PHP, Python, Ruby, and </a:t>
            </a:r>
            <a:r>
              <a:rPr lang="en-US" dirty="0" err="1"/>
              <a:t>Tcl</a:t>
            </a:r>
            <a:r>
              <a:rPr lang="en-US" dirty="0"/>
              <a:t> are available, enabling MySQL clients to be written in many languages. </a:t>
            </a:r>
          </a:p>
          <a:p>
            <a:pPr marL="285750" indent="-285750" fontAlgn="base">
              <a:buFont typeface="Wingdings" pitchFamily="2" charset="2"/>
              <a:buChar char="Ø"/>
            </a:pPr>
            <a:r>
              <a:rPr lang="en-US" dirty="0"/>
              <a:t>The Connector/ODBC (</a:t>
            </a:r>
            <a:r>
              <a:rPr lang="en-US" dirty="0" err="1"/>
              <a:t>MyODBC</a:t>
            </a:r>
            <a:r>
              <a:rPr lang="en-US" dirty="0"/>
              <a:t>) interface provides MySQL support for client programs that use ODBC (Open Database Connectivity) connections. </a:t>
            </a:r>
          </a:p>
          <a:p>
            <a:pPr marL="285750" indent="-285750" fontAlgn="base">
              <a:buFont typeface="Wingdings" pitchFamily="2" charset="2"/>
              <a:buChar char="Ø"/>
            </a:pPr>
            <a:r>
              <a:rPr lang="en-US" dirty="0"/>
              <a:t>The Connector/J interface provides MySQL support for Java client programs that use JDBC connections. Clients can be run on Windows or Unix. Connector/J source is available. </a:t>
            </a:r>
          </a:p>
        </p:txBody>
      </p:sp>
    </p:spTree>
    <p:extLst>
      <p:ext uri="{BB962C8B-B14F-4D97-AF65-F5344CB8AC3E}">
        <p14:creationId xmlns:p14="http://schemas.microsoft.com/office/powerpoint/2010/main" val="4274780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4" name="TextBox 3"/>
          <p:cNvSpPr txBox="1"/>
          <p:nvPr/>
        </p:nvSpPr>
        <p:spPr>
          <a:xfrm>
            <a:off x="1828800" y="609600"/>
            <a:ext cx="3761927"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SYSTEM IMPLEMENTATIONS</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736600" y="1447800"/>
            <a:ext cx="5638800" cy="2862322"/>
          </a:xfrm>
          <a:prstGeom prst="rect">
            <a:avLst/>
          </a:prstGeom>
        </p:spPr>
        <p:txBody>
          <a:bodyPr wrap="square">
            <a:spAutoFit/>
          </a:bodyPr>
          <a:lstStyle/>
          <a:p>
            <a:r>
              <a:rPr lang="en-US" b="1" i="1" dirty="0">
                <a:solidFill>
                  <a:srgbClr val="00B050"/>
                </a:solidFill>
              </a:rPr>
              <a:t>The Hardware used: </a:t>
            </a:r>
            <a:endParaRPr lang="en-US" b="1" dirty="0" smtClean="0">
              <a:solidFill>
                <a:srgbClr val="00B050"/>
              </a:solidFill>
              <a:effectLst/>
            </a:endParaRPr>
          </a:p>
          <a:p>
            <a:r>
              <a:rPr lang="en-US" dirty="0" smtClean="0"/>
              <a:t>While </a:t>
            </a:r>
            <a:r>
              <a:rPr lang="en-US" dirty="0"/>
              <a:t>developing the system, the used hardware are:</a:t>
            </a:r>
            <a:endParaRPr lang="en-US" b="0" dirty="0" smtClean="0">
              <a:effectLst/>
            </a:endParaRPr>
          </a:p>
          <a:p>
            <a:r>
              <a:rPr lang="en-US" dirty="0"/>
              <a:t>PC with </a:t>
            </a:r>
            <a:r>
              <a:rPr lang="en-US" dirty="0" smtClean="0"/>
              <a:t>Intel Core i3 </a:t>
            </a:r>
            <a:r>
              <a:rPr lang="en-US" dirty="0"/>
              <a:t>processor having </a:t>
            </a:r>
            <a:r>
              <a:rPr lang="en-US" dirty="0" smtClean="0"/>
              <a:t>4.00 </a:t>
            </a:r>
            <a:r>
              <a:rPr lang="en-US" dirty="0"/>
              <a:t>GB RAM, SVGA and other required devices. </a:t>
            </a:r>
            <a:endParaRPr lang="en-US" dirty="0" smtClean="0"/>
          </a:p>
          <a:p>
            <a:endParaRPr lang="en-US" b="0" dirty="0" smtClean="0">
              <a:effectLst/>
            </a:endParaRPr>
          </a:p>
          <a:p>
            <a:r>
              <a:rPr lang="en-US" b="1" i="1" dirty="0">
                <a:solidFill>
                  <a:srgbClr val="00B050"/>
                </a:solidFill>
              </a:rPr>
              <a:t>The Softwares used:</a:t>
            </a:r>
            <a:endParaRPr lang="en-US" b="1" dirty="0" smtClean="0">
              <a:solidFill>
                <a:srgbClr val="00B050"/>
              </a:solidFill>
              <a:effectLst/>
            </a:endParaRPr>
          </a:p>
          <a:p>
            <a:pPr marL="285750" indent="-285750" fontAlgn="base">
              <a:buFont typeface="Wingdings" pitchFamily="2" charset="2"/>
              <a:buChar char="Ø"/>
            </a:pPr>
            <a:r>
              <a:rPr lang="en-US" dirty="0"/>
              <a:t>Microsoft Windows® </a:t>
            </a:r>
            <a:r>
              <a:rPr lang="en-US" dirty="0" smtClean="0"/>
              <a:t>10 </a:t>
            </a:r>
            <a:r>
              <a:rPr lang="en-US" dirty="0"/>
              <a:t>as Operating System.</a:t>
            </a:r>
          </a:p>
          <a:p>
            <a:pPr marL="285750" indent="-285750" fontAlgn="base">
              <a:buFont typeface="Wingdings" pitchFamily="2" charset="2"/>
              <a:buChar char="Ø"/>
            </a:pPr>
            <a:r>
              <a:rPr lang="en-US" dirty="0"/>
              <a:t>Python </a:t>
            </a:r>
            <a:r>
              <a:rPr lang="en-US" dirty="0" smtClean="0"/>
              <a:t>3.12 </a:t>
            </a:r>
            <a:r>
              <a:rPr lang="en-US" dirty="0"/>
              <a:t>as Front-end Development environment</a:t>
            </a:r>
            <a:r>
              <a:rPr lang="en-US" dirty="0" smtClean="0"/>
              <a:t>.</a:t>
            </a:r>
            <a:endParaRPr lang="en-US" dirty="0"/>
          </a:p>
          <a:p>
            <a:pPr marL="285750" indent="-285750" fontAlgn="base">
              <a:buFont typeface="Wingdings" pitchFamily="2" charset="2"/>
              <a:buChar char="Ø"/>
            </a:pPr>
            <a:r>
              <a:rPr lang="en-US" dirty="0" smtClean="0"/>
              <a:t>MySQL </a:t>
            </a:r>
            <a:r>
              <a:rPr lang="en-US" dirty="0"/>
              <a:t>as Back-end Sever with Database for Testing.</a:t>
            </a:r>
          </a:p>
          <a:p>
            <a:pPr marL="285750" indent="-285750" fontAlgn="base">
              <a:buFont typeface="Wingdings" pitchFamily="2" charset="2"/>
              <a:buChar char="Ø"/>
            </a:pPr>
            <a:r>
              <a:rPr lang="en-US" dirty="0"/>
              <a:t>MS-Word </a:t>
            </a:r>
            <a:r>
              <a:rPr lang="en-US" dirty="0" smtClean="0"/>
              <a:t>2010 </a:t>
            </a:r>
            <a:r>
              <a:rPr lang="en-US" dirty="0"/>
              <a:t>for documentation.</a:t>
            </a:r>
          </a:p>
        </p:txBody>
      </p:sp>
    </p:spTree>
    <p:extLst>
      <p:ext uri="{BB962C8B-B14F-4D97-AF65-F5344CB8AC3E}">
        <p14:creationId xmlns:p14="http://schemas.microsoft.com/office/powerpoint/2010/main" val="28144813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1371600" y="653534"/>
            <a:ext cx="4534318"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SYSTEM DESIGN &amp; DEVELOPMENT</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 name="TextBox 3"/>
          <p:cNvSpPr txBox="1"/>
          <p:nvPr/>
        </p:nvSpPr>
        <p:spPr>
          <a:xfrm>
            <a:off x="794657" y="1523999"/>
            <a:ext cx="5638800" cy="4524315"/>
          </a:xfrm>
          <a:prstGeom prst="rect">
            <a:avLst/>
          </a:prstGeom>
          <a:noFill/>
        </p:spPr>
        <p:txBody>
          <a:bodyPr wrap="square" rtlCol="0">
            <a:spAutoFit/>
          </a:bodyPr>
          <a:lstStyle/>
          <a:p>
            <a:r>
              <a:rPr lang="en-US" dirty="0"/>
              <a:t>This project serves as a convenient tool for both bank employees and customers to manage and track account details effectively. It offers the following features:</a:t>
            </a:r>
          </a:p>
          <a:p>
            <a:r>
              <a:rPr lang="en-US" dirty="0"/>
              <a:t/>
            </a:r>
            <a:br>
              <a:rPr lang="en-US" dirty="0"/>
            </a:br>
            <a:r>
              <a:rPr lang="en-US" dirty="0"/>
              <a:t>- </a:t>
            </a:r>
            <a:r>
              <a:rPr lang="en-US" b="1" dirty="0"/>
              <a:t>**Account Creation**</a:t>
            </a:r>
            <a:endParaRPr lang="en-US" dirty="0"/>
          </a:p>
          <a:p>
            <a:r>
              <a:rPr lang="en-US" dirty="0"/>
              <a:t>- </a:t>
            </a:r>
            <a:r>
              <a:rPr lang="en-US" b="1" dirty="0"/>
              <a:t>**Transactions**</a:t>
            </a:r>
            <a:r>
              <a:rPr lang="en-US" dirty="0"/>
              <a:t>: Deposit and withdrawal options.</a:t>
            </a:r>
          </a:p>
          <a:p>
            <a:r>
              <a:rPr lang="en-US" dirty="0"/>
              <a:t>- </a:t>
            </a:r>
            <a:r>
              <a:rPr lang="en-US" b="1" dirty="0"/>
              <a:t>**Reports**</a:t>
            </a:r>
            <a:r>
              <a:rPr lang="en-US" dirty="0"/>
              <a:t>: Includes account lists, mini-statements, and more</a:t>
            </a:r>
            <a:r>
              <a:rPr lang="en-US" dirty="0" smtClean="0"/>
              <a:t>.</a:t>
            </a:r>
            <a:r>
              <a:rPr lang="en-US" dirty="0"/>
              <a:t/>
            </a:r>
            <a:br>
              <a:rPr lang="en-US" dirty="0"/>
            </a:br>
            <a:r>
              <a:rPr lang="en-US" b="1" dirty="0"/>
              <a:t>### Requirements:</a:t>
            </a:r>
            <a:endParaRPr lang="en-US" dirty="0"/>
          </a:p>
          <a:p>
            <a:r>
              <a:rPr lang="en-US" dirty="0"/>
              <a:t>- </a:t>
            </a:r>
            <a:r>
              <a:rPr lang="en-US" b="1" dirty="0"/>
              <a:t>**MySQL**</a:t>
            </a:r>
            <a:r>
              <a:rPr lang="en-US" dirty="0"/>
              <a:t>: Ensure MySQL is installed and configured.</a:t>
            </a:r>
          </a:p>
          <a:p>
            <a:r>
              <a:rPr lang="en-US" dirty="0"/>
              <a:t>- </a:t>
            </a:r>
            <a:r>
              <a:rPr lang="en-US" b="1" dirty="0"/>
              <a:t>**Python Libraries**</a:t>
            </a:r>
            <a:r>
              <a:rPr lang="en-US" dirty="0"/>
              <a:t>: </a:t>
            </a:r>
          </a:p>
          <a:p>
            <a:r>
              <a:rPr lang="en-US" dirty="0" smtClean="0"/>
              <a:t>- </a:t>
            </a:r>
            <a:r>
              <a:rPr lang="en-US" dirty="0"/>
              <a:t>For GUI: </a:t>
            </a:r>
            <a:r>
              <a:rPr lang="en-US" dirty="0" err="1"/>
              <a:t>tkinter</a:t>
            </a:r>
            <a:r>
              <a:rPr lang="en-US" dirty="0"/>
              <a:t> (including `</a:t>
            </a:r>
            <a:r>
              <a:rPr lang="en-US" dirty="0" err="1"/>
              <a:t>ttk</a:t>
            </a:r>
            <a:r>
              <a:rPr lang="en-US" dirty="0"/>
              <a:t>` and `</a:t>
            </a:r>
            <a:r>
              <a:rPr lang="en-US" dirty="0" err="1"/>
              <a:t>messagebox</a:t>
            </a:r>
            <a:r>
              <a:rPr lang="en-US" dirty="0"/>
              <a:t>` modules).</a:t>
            </a:r>
          </a:p>
          <a:p>
            <a:r>
              <a:rPr lang="en-US" dirty="0"/>
              <a:t>  - For Database: `</a:t>
            </a:r>
            <a:r>
              <a:rPr lang="en-US" dirty="0" err="1"/>
              <a:t>mysql.connector</a:t>
            </a:r>
            <a:r>
              <a:rPr lang="en-US" dirty="0"/>
              <a:t>` and `</a:t>
            </a:r>
            <a:r>
              <a:rPr lang="en-US" dirty="0" err="1"/>
              <a:t>datetime</a:t>
            </a:r>
            <a:r>
              <a:rPr lang="en-US" dirty="0" smtClean="0"/>
              <a:t>`.</a:t>
            </a:r>
          </a:p>
          <a:p>
            <a:r>
              <a:rPr lang="en-US" dirty="0"/>
              <a:t>  </a:t>
            </a:r>
            <a:r>
              <a:rPr lang="en-US" dirty="0" smtClean="0"/>
              <a:t>- For Database: Create bank database in </a:t>
            </a:r>
            <a:r>
              <a:rPr lang="en-US" dirty="0" err="1" smtClean="0"/>
              <a:t>Mysql</a:t>
            </a:r>
            <a:endParaRPr lang="en-US" dirty="0"/>
          </a:p>
          <a:p>
            <a:endParaRPr lang="en-US" dirty="0"/>
          </a:p>
        </p:txBody>
      </p:sp>
      <p:sp>
        <p:nvSpPr>
          <p:cNvPr id="5" name="Rectangle 4"/>
          <p:cNvSpPr/>
          <p:nvPr/>
        </p:nvSpPr>
        <p:spPr>
          <a:xfrm>
            <a:off x="914400" y="6048314"/>
            <a:ext cx="5519057" cy="1846659"/>
          </a:xfrm>
          <a:prstGeom prst="rect">
            <a:avLst/>
          </a:prstGeom>
        </p:spPr>
        <p:txBody>
          <a:bodyPr wrap="square">
            <a:spAutoFit/>
          </a:bodyPr>
          <a:lstStyle/>
          <a:p>
            <a:r>
              <a:rPr lang="en-US" sz="1600" dirty="0" smtClean="0"/>
              <a:t>- CREATE TABLE </a:t>
            </a:r>
            <a:r>
              <a:rPr lang="en-US" sz="1600" dirty="0" err="1" smtClean="0"/>
              <a:t>accountmaster</a:t>
            </a:r>
            <a:r>
              <a:rPr lang="en-US" sz="1600" dirty="0" smtClean="0"/>
              <a:t> (    </a:t>
            </a:r>
            <a:r>
              <a:rPr lang="en-US" sz="1600" dirty="0" err="1" smtClean="0"/>
              <a:t>Account_Number</a:t>
            </a:r>
            <a:r>
              <a:rPr lang="en-US" sz="1600" dirty="0" smtClean="0"/>
              <a:t> INTEGER PRIMARY KEY,    name CHAR(40),    </a:t>
            </a:r>
            <a:r>
              <a:rPr lang="en-US" sz="1600" dirty="0" err="1" smtClean="0"/>
              <a:t>Account_Type</a:t>
            </a:r>
            <a:r>
              <a:rPr lang="en-US" sz="1600" dirty="0" smtClean="0"/>
              <a:t> CHAR(40),    </a:t>
            </a:r>
            <a:r>
              <a:rPr lang="en-US" sz="1600" dirty="0" err="1" smtClean="0"/>
              <a:t>DateOfOpening</a:t>
            </a:r>
            <a:r>
              <a:rPr lang="en-US" sz="1600" dirty="0" smtClean="0"/>
              <a:t> DATE,    Address_1 CHAR(100),    Address_2 CHAR(100),    City CHAR(20),    </a:t>
            </a:r>
            <a:r>
              <a:rPr lang="en-US" sz="1600" dirty="0" err="1" smtClean="0"/>
              <a:t>Opening_Balance</a:t>
            </a:r>
            <a:r>
              <a:rPr lang="en-US" sz="1600" dirty="0" smtClean="0"/>
              <a:t> INTEGER);</a:t>
            </a:r>
          </a:p>
          <a:p>
            <a:pPr marL="285750" indent="-285750">
              <a:buFontTx/>
              <a:buChar char="-"/>
            </a:pPr>
            <a:endParaRPr lang="en-US" dirty="0"/>
          </a:p>
          <a:p>
            <a:pPr marL="285750" indent="-285750">
              <a:buFontTx/>
              <a:buChar char="-"/>
            </a:pPr>
            <a:r>
              <a:rPr lang="en-US" sz="1600" dirty="0" smtClean="0"/>
              <a:t>CREATE TABLE Transaction (    </a:t>
            </a:r>
            <a:r>
              <a:rPr lang="en-US" sz="1600" dirty="0" err="1" smtClean="0"/>
              <a:t>Account_Number</a:t>
            </a:r>
            <a:r>
              <a:rPr lang="en-US" sz="1600" dirty="0" smtClean="0"/>
              <a:t> INTEGER,    y</a:t>
            </a:r>
          </a:p>
          <a:p>
            <a:pPr marL="285750" indent="-285750">
              <a:buFontTx/>
              <a:buChar char="-"/>
            </a:pPr>
            <a:r>
              <a:rPr lang="en-US" sz="1600" dirty="0" smtClean="0"/>
              <a:t>Date DATE,    </a:t>
            </a:r>
            <a:r>
              <a:rPr lang="en-US" sz="1600" dirty="0" err="1" smtClean="0"/>
              <a:t>Transaction_Type</a:t>
            </a:r>
            <a:r>
              <a:rPr lang="en-US" sz="1600" dirty="0" smtClean="0"/>
              <a:t> CHAR(1),    Amount INTEGER);</a:t>
            </a:r>
            <a:endParaRPr lang="en-US" sz="1600" dirty="0"/>
          </a:p>
        </p:txBody>
      </p:sp>
      <p:sp>
        <p:nvSpPr>
          <p:cNvPr id="6" name="TextBox 5"/>
          <p:cNvSpPr txBox="1"/>
          <p:nvPr/>
        </p:nvSpPr>
        <p:spPr>
          <a:xfrm>
            <a:off x="914400" y="5678982"/>
            <a:ext cx="4790670" cy="369332"/>
          </a:xfrm>
          <a:prstGeom prst="rect">
            <a:avLst/>
          </a:prstGeom>
          <a:noFill/>
        </p:spPr>
        <p:txBody>
          <a:bodyPr wrap="none" rtlCol="0">
            <a:spAutoFit/>
          </a:bodyPr>
          <a:lstStyle/>
          <a:p>
            <a:r>
              <a:rPr lang="en-US" dirty="0" smtClean="0"/>
              <a:t>- For Database: First create these tables in MySQL</a:t>
            </a:r>
            <a:endParaRPr lang="en-US" dirty="0"/>
          </a:p>
        </p:txBody>
      </p:sp>
    </p:spTree>
    <p:extLst>
      <p:ext uri="{BB962C8B-B14F-4D97-AF65-F5344CB8AC3E}">
        <p14:creationId xmlns:p14="http://schemas.microsoft.com/office/powerpoint/2010/main" val="2536372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2671659" y="681335"/>
            <a:ext cx="2072940"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PROJECT CODE</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50590"/>
            <a:ext cx="5562600" cy="354051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4991100"/>
            <a:ext cx="5334000" cy="3498004"/>
          </a:xfrm>
          <a:prstGeom prst="rect">
            <a:avLst/>
          </a:prstGeom>
        </p:spPr>
      </p:pic>
    </p:spTree>
    <p:extLst>
      <p:ext uri="{BB962C8B-B14F-4D97-AF65-F5344CB8AC3E}">
        <p14:creationId xmlns:p14="http://schemas.microsoft.com/office/powerpoint/2010/main" val="40677776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762000"/>
            <a:ext cx="5562600" cy="430477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898" y="5076302"/>
            <a:ext cx="5486400" cy="3713924"/>
          </a:xfrm>
          <a:prstGeom prst="rect">
            <a:avLst/>
          </a:prstGeom>
        </p:spPr>
      </p:pic>
    </p:spTree>
    <p:extLst>
      <p:ext uri="{BB962C8B-B14F-4D97-AF65-F5344CB8AC3E}">
        <p14:creationId xmlns:p14="http://schemas.microsoft.com/office/powerpoint/2010/main" val="21202694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9" y="838200"/>
            <a:ext cx="5514975" cy="351926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574" y="4357467"/>
            <a:ext cx="5638800" cy="3745237"/>
          </a:xfrm>
          <a:prstGeom prst="rect">
            <a:avLst/>
          </a:prstGeom>
        </p:spPr>
      </p:pic>
    </p:spTree>
    <p:extLst>
      <p:ext uri="{BB962C8B-B14F-4D97-AF65-F5344CB8AC3E}">
        <p14:creationId xmlns:p14="http://schemas.microsoft.com/office/powerpoint/2010/main" val="18555973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75" y="609600"/>
            <a:ext cx="5579929" cy="316284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734341"/>
            <a:ext cx="5532303" cy="282212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1" y="6556462"/>
            <a:ext cx="3428999" cy="2663738"/>
          </a:xfrm>
          <a:prstGeom prst="rect">
            <a:avLst/>
          </a:prstGeom>
        </p:spPr>
      </p:pic>
    </p:spTree>
    <p:extLst>
      <p:ext uri="{BB962C8B-B14F-4D97-AF65-F5344CB8AC3E}">
        <p14:creationId xmlns:p14="http://schemas.microsoft.com/office/powerpoint/2010/main" val="4196837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TextBox 2"/>
          <p:cNvSpPr txBox="1"/>
          <p:nvPr/>
        </p:nvSpPr>
        <p:spPr>
          <a:xfrm>
            <a:off x="2798058" y="649932"/>
            <a:ext cx="1261884"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OUTPUT</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511" y="3387429"/>
            <a:ext cx="5163271" cy="265784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7944" y="990600"/>
            <a:ext cx="4772691" cy="2476846"/>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511" y="5681582"/>
            <a:ext cx="2648320" cy="3315163"/>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92531" y="6248400"/>
            <a:ext cx="2638793" cy="2181529"/>
          </a:xfrm>
          <a:prstGeom prst="rect">
            <a:avLst/>
          </a:prstGeom>
        </p:spPr>
      </p:pic>
    </p:spTree>
    <p:extLst>
      <p:ext uri="{BB962C8B-B14F-4D97-AF65-F5344CB8AC3E}">
        <p14:creationId xmlns:p14="http://schemas.microsoft.com/office/powerpoint/2010/main" val="37537699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4232" y="571500"/>
            <a:ext cx="2448267" cy="505848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933" y="7620000"/>
            <a:ext cx="5564867" cy="121920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633" y="5943600"/>
            <a:ext cx="5552167" cy="1219200"/>
          </a:xfrm>
          <a:prstGeom prst="rect">
            <a:avLst/>
          </a:prstGeom>
        </p:spPr>
      </p:pic>
      <p:sp>
        <p:nvSpPr>
          <p:cNvPr id="6" name="TextBox 5"/>
          <p:cNvSpPr txBox="1"/>
          <p:nvPr/>
        </p:nvSpPr>
        <p:spPr>
          <a:xfrm>
            <a:off x="823233" y="5574268"/>
            <a:ext cx="2338141" cy="369332"/>
          </a:xfrm>
          <a:prstGeom prst="rect">
            <a:avLst/>
          </a:prstGeom>
          <a:noFill/>
        </p:spPr>
        <p:txBody>
          <a:bodyPr wrap="none" rtlCol="0">
            <a:spAutoFit/>
          </a:bodyPr>
          <a:lstStyle/>
          <a:p>
            <a:r>
              <a:rPr lang="en-US" dirty="0" smtClean="0"/>
              <a:t>Data Before Updating:-</a:t>
            </a:r>
            <a:endParaRPr lang="en-US" dirty="0"/>
          </a:p>
        </p:txBody>
      </p:sp>
      <p:sp>
        <p:nvSpPr>
          <p:cNvPr id="7" name="TextBox 6"/>
          <p:cNvSpPr txBox="1"/>
          <p:nvPr/>
        </p:nvSpPr>
        <p:spPr>
          <a:xfrm>
            <a:off x="835933" y="7250668"/>
            <a:ext cx="2193293" cy="369332"/>
          </a:xfrm>
          <a:prstGeom prst="rect">
            <a:avLst/>
          </a:prstGeom>
          <a:noFill/>
        </p:spPr>
        <p:txBody>
          <a:bodyPr wrap="none" rtlCol="0">
            <a:spAutoFit/>
          </a:bodyPr>
          <a:lstStyle/>
          <a:p>
            <a:r>
              <a:rPr lang="en-US" dirty="0" smtClean="0"/>
              <a:t>Data After Updating:-</a:t>
            </a:r>
            <a:endParaRPr lang="en-US" dirty="0"/>
          </a:p>
        </p:txBody>
      </p:sp>
    </p:spTree>
    <p:extLst>
      <p:ext uri="{BB962C8B-B14F-4D97-AF65-F5344CB8AC3E}">
        <p14:creationId xmlns:p14="http://schemas.microsoft.com/office/powerpoint/2010/main" val="1534464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3" name="Rectangle 2"/>
          <p:cNvSpPr/>
          <p:nvPr/>
        </p:nvSpPr>
        <p:spPr>
          <a:xfrm>
            <a:off x="825500" y="1295400"/>
            <a:ext cx="5562600" cy="5078313"/>
          </a:xfrm>
          <a:prstGeom prst="rect">
            <a:avLst/>
          </a:prstGeom>
        </p:spPr>
        <p:txBody>
          <a:bodyPr wrap="square">
            <a:spAutoFit/>
          </a:bodyPr>
          <a:lstStyle/>
          <a:p>
            <a:r>
              <a:rPr lang="en-US" b="1" dirty="0"/>
              <a:t>How to </a:t>
            </a:r>
            <a:r>
              <a:rPr lang="en-US" b="1" dirty="0" smtClean="0"/>
              <a:t>install Software:</a:t>
            </a:r>
          </a:p>
          <a:p>
            <a:endParaRPr lang="en-US" b="1" dirty="0" smtClean="0">
              <a:effectLst/>
            </a:endParaRPr>
          </a:p>
          <a:p>
            <a:r>
              <a:rPr lang="en-US" b="1" dirty="0">
                <a:solidFill>
                  <a:srgbClr val="00B050"/>
                </a:solidFill>
              </a:rPr>
              <a:t>Hardware Requirement-</a:t>
            </a:r>
            <a:endParaRPr lang="en-US" b="1" dirty="0" smtClean="0">
              <a:solidFill>
                <a:srgbClr val="00B050"/>
              </a:solidFill>
              <a:effectLst/>
            </a:endParaRPr>
          </a:p>
          <a:p>
            <a:pPr fontAlgn="base"/>
            <a:r>
              <a:rPr lang="en-US" dirty="0"/>
              <a:t>Intel Pentium/Celeron or similar processor based PC at Client/Server end. </a:t>
            </a:r>
          </a:p>
          <a:p>
            <a:pPr fontAlgn="base"/>
            <a:r>
              <a:rPr lang="en-US" dirty="0"/>
              <a:t>128 MB RAM and 4GB HDD space (for Database) is desirable. </a:t>
            </a:r>
          </a:p>
          <a:p>
            <a:pPr fontAlgn="base"/>
            <a:r>
              <a:rPr lang="en-US" dirty="0"/>
              <a:t>Standard I/O devices like Keyboard and Mouse etc. </a:t>
            </a:r>
          </a:p>
          <a:p>
            <a:pPr fontAlgn="base"/>
            <a:r>
              <a:rPr lang="en-US" dirty="0"/>
              <a:t>Printer is needed for hard-copy reports. </a:t>
            </a:r>
          </a:p>
          <a:p>
            <a:pPr fontAlgn="base"/>
            <a:r>
              <a:rPr lang="en-US" dirty="0"/>
              <a:t>Local Area Network(LAN) is required for Client-Server </a:t>
            </a:r>
            <a:r>
              <a:rPr lang="en-US" dirty="0" smtClean="0"/>
              <a:t>Installation</a:t>
            </a:r>
          </a:p>
          <a:p>
            <a:pPr fontAlgn="base"/>
            <a:endParaRPr lang="en-US" dirty="0"/>
          </a:p>
          <a:p>
            <a:r>
              <a:rPr lang="en-US" b="1" dirty="0">
                <a:solidFill>
                  <a:srgbClr val="00B050"/>
                </a:solidFill>
              </a:rPr>
              <a:t>Software Requirement-</a:t>
            </a:r>
            <a:endParaRPr lang="en-US" b="1" dirty="0" smtClean="0">
              <a:solidFill>
                <a:srgbClr val="00B050"/>
              </a:solidFill>
              <a:effectLst/>
            </a:endParaRPr>
          </a:p>
          <a:p>
            <a:pPr fontAlgn="base"/>
            <a:r>
              <a:rPr lang="en-US" dirty="0"/>
              <a:t>Windows XP/2007 OS is desirable. </a:t>
            </a:r>
          </a:p>
          <a:p>
            <a:pPr fontAlgn="base"/>
            <a:r>
              <a:rPr lang="en-US" dirty="0"/>
              <a:t>Python must be installed and </a:t>
            </a:r>
            <a:r>
              <a:rPr lang="en-US" dirty="0" err="1"/>
              <a:t>mysql</a:t>
            </a:r>
            <a:r>
              <a:rPr lang="en-US" dirty="0"/>
              <a:t> connector must be installed. </a:t>
            </a:r>
          </a:p>
          <a:p>
            <a:pPr fontAlgn="base"/>
            <a:r>
              <a:rPr lang="en-US" dirty="0"/>
              <a:t>MySQL </a:t>
            </a:r>
            <a:r>
              <a:rPr lang="en-US" dirty="0" err="1"/>
              <a:t>Ver</a:t>
            </a:r>
            <a:r>
              <a:rPr lang="en-US" dirty="0"/>
              <a:t> 6.1 with Library Database must be present at machine.</a:t>
            </a:r>
          </a:p>
        </p:txBody>
      </p:sp>
      <p:sp>
        <p:nvSpPr>
          <p:cNvPr id="4" name="TextBox 3"/>
          <p:cNvSpPr txBox="1"/>
          <p:nvPr/>
        </p:nvSpPr>
        <p:spPr>
          <a:xfrm>
            <a:off x="2384611" y="761999"/>
            <a:ext cx="2088777"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USER MANUAL</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31687889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4" name="TextBox 3"/>
          <p:cNvSpPr txBox="1"/>
          <p:nvPr/>
        </p:nvSpPr>
        <p:spPr>
          <a:xfrm>
            <a:off x="2743200" y="761999"/>
            <a:ext cx="1640193" cy="461665"/>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REFERENCE</a:t>
            </a: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Rectangle 4"/>
          <p:cNvSpPr/>
          <p:nvPr/>
        </p:nvSpPr>
        <p:spPr>
          <a:xfrm>
            <a:off x="762000" y="1371600"/>
            <a:ext cx="5638800" cy="4524315"/>
          </a:xfrm>
          <a:prstGeom prst="rect">
            <a:avLst/>
          </a:prstGeom>
        </p:spPr>
        <p:txBody>
          <a:bodyPr wrap="square">
            <a:spAutoFit/>
          </a:bodyPr>
          <a:lstStyle/>
          <a:p>
            <a:r>
              <a:rPr lang="en-US" dirty="0"/>
              <a:t>In order to work on this project titled </a:t>
            </a:r>
            <a:r>
              <a:rPr lang="en-US" dirty="0" smtClean="0"/>
              <a:t>–Bank Management System</a:t>
            </a:r>
            <a:r>
              <a:rPr lang="en-US" b="1" i="1" dirty="0" smtClean="0"/>
              <a:t>, </a:t>
            </a:r>
            <a:r>
              <a:rPr lang="en-US" dirty="0"/>
              <a:t>the following books and literature are </a:t>
            </a:r>
            <a:r>
              <a:rPr lang="en-US" dirty="0" err="1"/>
              <a:t>refered</a:t>
            </a:r>
            <a:r>
              <a:rPr lang="en-US" dirty="0"/>
              <a:t> by </a:t>
            </a:r>
            <a:r>
              <a:rPr lang="en-US" dirty="0" smtClean="0"/>
              <a:t>me and my classmates </a:t>
            </a:r>
            <a:r>
              <a:rPr lang="en-US" dirty="0"/>
              <a:t>during the various phases of development of the project</a:t>
            </a:r>
            <a:r>
              <a:rPr lang="en-US" dirty="0" smtClean="0"/>
              <a:t>.</a:t>
            </a:r>
          </a:p>
          <a:p>
            <a:endParaRPr lang="en-US" b="0" dirty="0" smtClean="0">
              <a:effectLst/>
            </a:endParaRPr>
          </a:p>
          <a:p>
            <a:pPr marL="342900" indent="-342900">
              <a:buFont typeface="+mj-lt"/>
              <a:buAutoNum type="arabicPeriod"/>
            </a:pPr>
            <a:r>
              <a:rPr lang="en-US" u="sng" dirty="0" smtClean="0">
                <a:hlinkClick r:id="rId3"/>
              </a:rPr>
              <a:t>http</a:t>
            </a:r>
            <a:r>
              <a:rPr lang="en-US" u="sng" dirty="0">
                <a:hlinkClick r:id="rId3"/>
              </a:rPr>
              <a:t>://www.mysql.org/</a:t>
            </a:r>
            <a:endParaRPr lang="en-US" b="0" dirty="0" smtClean="0">
              <a:effectLst/>
            </a:endParaRPr>
          </a:p>
          <a:p>
            <a:pPr marL="342900" indent="-342900">
              <a:buAutoNum type="arabicPeriod" startAt="2"/>
            </a:pPr>
            <a:r>
              <a:rPr lang="en-US" dirty="0" smtClean="0"/>
              <a:t>Course </a:t>
            </a:r>
            <a:r>
              <a:rPr lang="en-US" dirty="0"/>
              <a:t>Book for class XII </a:t>
            </a:r>
            <a:endParaRPr lang="en-US" dirty="0" smtClean="0"/>
          </a:p>
          <a:p>
            <a:pPr marL="342900" indent="-342900">
              <a:buAutoNum type="arabicPeriod" startAt="2"/>
            </a:pPr>
            <a:r>
              <a:rPr lang="en-US" dirty="0" smtClean="0"/>
              <a:t>Computer Science with Python by </a:t>
            </a:r>
            <a:r>
              <a:rPr lang="en-US" b="0" dirty="0" err="1" smtClean="0">
                <a:effectLst/>
              </a:rPr>
              <a:t>Sumita</a:t>
            </a:r>
            <a:r>
              <a:rPr lang="en-US" b="0" dirty="0" smtClean="0">
                <a:effectLst/>
              </a:rPr>
              <a:t> </a:t>
            </a:r>
            <a:r>
              <a:rPr lang="en-US" b="0" dirty="0" err="1" smtClean="0">
                <a:effectLst/>
              </a:rPr>
              <a:t>Arora</a:t>
            </a:r>
            <a:endParaRPr lang="en-US" b="0" dirty="0" smtClean="0">
              <a:effectLst/>
            </a:endParaRPr>
          </a:p>
          <a:p>
            <a:r>
              <a:rPr lang="en-US" dirty="0"/>
              <a:t>4</a:t>
            </a:r>
            <a:r>
              <a:rPr lang="en-US" dirty="0" smtClean="0"/>
              <a:t>. Various </a:t>
            </a:r>
            <a:r>
              <a:rPr lang="en-US" dirty="0"/>
              <a:t>Websites of Discussion Forum and software development activities.</a:t>
            </a:r>
            <a:endParaRPr lang="en-US" b="0" dirty="0" smtClean="0">
              <a:effectLst/>
            </a:endParaRPr>
          </a:p>
          <a:p>
            <a:r>
              <a:rPr lang="en-US" b="0" dirty="0" smtClean="0">
                <a:effectLst/>
              </a:rPr>
              <a:t/>
            </a:r>
            <a:br>
              <a:rPr lang="en-US" b="0" dirty="0" smtClean="0">
                <a:effectLst/>
              </a:rPr>
            </a:br>
            <a:r>
              <a:rPr lang="en-US" dirty="0"/>
              <a:t>Other than the above-mentioned books, the suggestions and supervision of my teacher and my class experience also helped me to develop this software project.</a:t>
            </a:r>
            <a:endParaRPr lang="en-US" b="0" dirty="0" smtClean="0">
              <a:effectLst/>
            </a:endParaRPr>
          </a:p>
          <a:p>
            <a:r>
              <a:rPr lang="en-US" dirty="0" smtClean="0"/>
              <a:t/>
            </a:r>
            <a:br>
              <a:rPr lang="en-US" dirty="0" smtClean="0"/>
            </a:br>
            <a:endParaRPr lang="en-US" dirty="0"/>
          </a:p>
        </p:txBody>
      </p:sp>
    </p:spTree>
    <p:extLst>
      <p:ext uri="{BB962C8B-B14F-4D97-AF65-F5344CB8AC3E}">
        <p14:creationId xmlns:p14="http://schemas.microsoft.com/office/powerpoint/2010/main" val="3503005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TotalTime>
  <Words>834</Words>
  <Application>Microsoft Office PowerPoint</Application>
  <PresentationFormat>A4 Paper (210x297 mm)</PresentationFormat>
  <Paragraphs>123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24</cp:revision>
  <dcterms:created xsi:type="dcterms:W3CDTF">2025-01-11T09:58:55Z</dcterms:created>
  <dcterms:modified xsi:type="dcterms:W3CDTF">2025-01-11T13:45:46Z</dcterms:modified>
</cp:coreProperties>
</file>